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ntonio Ultra-Bold" charset="1" panose="02000803000000000000"/>
      <p:regular r:id="rId23"/>
    </p:embeddedFont>
    <p:embeddedFont>
      <p:font typeface="Antonio Light" charset="1" panose="02000303000000000000"/>
      <p:regular r:id="rId24"/>
    </p:embeddedFont>
    <p:embeddedFont>
      <p:font typeface="Montserrat Medium" charset="1" panose="00000600000000000000"/>
      <p:regular r:id="rId25"/>
    </p:embeddedFont>
    <p:embeddedFont>
      <p:font typeface="Raleway Medium" charset="1" panose="00000000000000000000"/>
      <p:regular r:id="rId26"/>
    </p:embeddedFont>
    <p:embeddedFont>
      <p:font typeface="Raleway Ultra-Bold" charset="1" panose="00000000000000000000"/>
      <p:regular r:id="rId27"/>
    </p:embeddedFont>
    <p:embeddedFont>
      <p:font typeface="Antonio" charset="1" panose="02000503000000000000"/>
      <p:regular r:id="rId28"/>
    </p:embeddedFont>
    <p:embeddedFont>
      <p:font typeface="Canva Sans" charset="1" panose="020B0503030501040103"/>
      <p:regular r:id="rId29"/>
    </p:embeddedFont>
    <p:embeddedFont>
      <p:font typeface="Telegraf Medium" charset="1" panose="000006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2" Target="../media/image3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1.png" Type="http://schemas.openxmlformats.org/officeDocument/2006/relationships/image"/><Relationship Id="rId7" Target="../media/image22.jpeg" Type="http://schemas.openxmlformats.org/officeDocument/2006/relationships/image"/><Relationship Id="rId8" Target="../media/image23.jpe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7.jpe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jpe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4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5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9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3.png" Type="http://schemas.openxmlformats.org/officeDocument/2006/relationships/image"/><Relationship Id="rId4" Target="../media/image55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https://github.com/Divu1913/Phishing-Awareness-Simulation" TargetMode="External" Type="http://schemas.openxmlformats.org/officeDocument/2006/relationships/hyperlink"/><Relationship Id="rId12" Target="https://divu1913.github.io/Phishing-Awareness-Simulation/" TargetMode="External" Type="http://schemas.openxmlformats.org/officeDocument/2006/relationships/hyperlink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93042" y="2034365"/>
            <a:ext cx="7137321" cy="713732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634504" y="1028700"/>
            <a:ext cx="7624796" cy="8142986"/>
          </a:xfrm>
          <a:custGeom>
            <a:avLst/>
            <a:gdLst/>
            <a:ahLst/>
            <a:cxnLst/>
            <a:rect r="r" b="b" t="t" l="l"/>
            <a:pathLst>
              <a:path h="8142986" w="7624796">
                <a:moveTo>
                  <a:pt x="0" y="0"/>
                </a:moveTo>
                <a:lnTo>
                  <a:pt x="7624796" y="0"/>
                </a:lnTo>
                <a:lnTo>
                  <a:pt x="7624796" y="8142986"/>
                </a:lnTo>
                <a:lnTo>
                  <a:pt x="0" y="8142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99105" y="5143500"/>
            <a:ext cx="4884164" cy="48841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4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66382" y="1231825"/>
            <a:ext cx="690557" cy="842847"/>
          </a:xfrm>
          <a:custGeom>
            <a:avLst/>
            <a:gdLst/>
            <a:ahLst/>
            <a:cxnLst/>
            <a:rect r="r" b="b" t="t" l="l"/>
            <a:pathLst>
              <a:path h="842847" w="690557">
                <a:moveTo>
                  <a:pt x="0" y="0"/>
                </a:moveTo>
                <a:lnTo>
                  <a:pt x="690557" y="0"/>
                </a:lnTo>
                <a:lnTo>
                  <a:pt x="690557" y="842847"/>
                </a:lnTo>
                <a:lnTo>
                  <a:pt x="0" y="842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83559" y="3540245"/>
            <a:ext cx="3587414" cy="2530757"/>
          </a:xfrm>
          <a:custGeom>
            <a:avLst/>
            <a:gdLst/>
            <a:ahLst/>
            <a:cxnLst/>
            <a:rect r="r" b="b" t="t" l="l"/>
            <a:pathLst>
              <a:path h="2530757" w="3587414">
                <a:moveTo>
                  <a:pt x="0" y="0"/>
                </a:moveTo>
                <a:lnTo>
                  <a:pt x="3587414" y="0"/>
                </a:lnTo>
                <a:lnTo>
                  <a:pt x="3587414" y="2530758"/>
                </a:lnTo>
                <a:lnTo>
                  <a:pt x="0" y="25307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32134" y="2894572"/>
            <a:ext cx="6995030" cy="246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635"/>
              </a:lnSpc>
              <a:spcBef>
                <a:spcPct val="0"/>
              </a:spcBef>
            </a:pPr>
            <a:r>
              <a:rPr lang="en-US" b="true" sz="8306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PHISHING AWARENESS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3164" y="4881216"/>
            <a:ext cx="9189636" cy="244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178"/>
              </a:lnSpc>
              <a:spcBef>
                <a:spcPct val="0"/>
              </a:spcBef>
            </a:pPr>
            <a:r>
              <a:rPr lang="en-US" sz="16533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SIMULATION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85309" y="1429821"/>
            <a:ext cx="2807763" cy="504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9"/>
              </a:lnSpc>
              <a:spcBef>
                <a:spcPct val="0"/>
              </a:spcBef>
            </a:pPr>
            <a:r>
              <a:rPr lang="en-US" b="true" sz="1732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Divya Gunvant Khodankar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630080" y="1189894"/>
            <a:ext cx="822214" cy="20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07"/>
              </a:lnSpc>
              <a:spcBef>
                <a:spcPct val="0"/>
              </a:spcBef>
            </a:pPr>
            <a:r>
              <a:rPr lang="en-US" b="true" sz="1386" spc="144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60493" y="1226501"/>
            <a:ext cx="702154" cy="852616"/>
          </a:xfrm>
          <a:custGeom>
            <a:avLst/>
            <a:gdLst/>
            <a:ahLst/>
            <a:cxnLst/>
            <a:rect r="r" b="b" t="t" l="l"/>
            <a:pathLst>
              <a:path h="852616" w="702154">
                <a:moveTo>
                  <a:pt x="0" y="0"/>
                </a:moveTo>
                <a:lnTo>
                  <a:pt x="702154" y="0"/>
                </a:lnTo>
                <a:lnTo>
                  <a:pt x="702154" y="852616"/>
                </a:lnTo>
                <a:lnTo>
                  <a:pt x="0" y="852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22155" y="1963360"/>
            <a:ext cx="10015939" cy="6535400"/>
          </a:xfrm>
          <a:custGeom>
            <a:avLst/>
            <a:gdLst/>
            <a:ahLst/>
            <a:cxnLst/>
            <a:rect r="r" b="b" t="t" l="l"/>
            <a:pathLst>
              <a:path h="6535400" w="10015939">
                <a:moveTo>
                  <a:pt x="0" y="0"/>
                </a:moveTo>
                <a:lnTo>
                  <a:pt x="10015939" y="0"/>
                </a:lnTo>
                <a:lnTo>
                  <a:pt x="10015939" y="6535400"/>
                </a:lnTo>
                <a:lnTo>
                  <a:pt x="0" y="653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85309" y="1439346"/>
            <a:ext cx="2807763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7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Phishing Awareness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630080" y="1189894"/>
            <a:ext cx="822214" cy="21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  <a:spcBef>
                <a:spcPct val="0"/>
              </a:spcBef>
            </a:pPr>
            <a:r>
              <a:rPr lang="en-US" b="true" sz="1440" spc="14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02/12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47842" y="3544248"/>
            <a:ext cx="5933544" cy="1322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397"/>
              </a:lnSpc>
              <a:spcBef>
                <a:spcPct val="0"/>
              </a:spcBef>
            </a:pPr>
            <a:r>
              <a:rPr lang="en-US" b="true" sz="8963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INTRODUCTION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47842" y="5040763"/>
            <a:ext cx="6537581" cy="174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3643"/>
              </a:lnSpc>
              <a:spcBef>
                <a:spcPct val="0"/>
              </a:spcBef>
            </a:pPr>
            <a:r>
              <a:rPr lang="en-US" sz="11761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TO PHISHING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21098" y="2922995"/>
            <a:ext cx="5872806" cy="75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Phishing is a cyber attack where attackers impersonate trusted entities to steal sensitive information like passwords, credit cards, and personal data.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05483" y="2441108"/>
            <a:ext cx="1148007" cy="114800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921098" y="4842906"/>
            <a:ext cx="5872806" cy="75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Cybersecurity awareness is critical as 91% of cyber attacks begin with phishing emails, making employee education the first line of defense.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05483" y="4361019"/>
            <a:ext cx="1148007" cy="114800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921098" y="6762817"/>
            <a:ext cx="5872806" cy="75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Social engineering exploits human psychology rather than technical vulnerabilities, manipulating trust to bypass security measures.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05483" y="6280930"/>
            <a:ext cx="1148007" cy="114800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98531" y="4066889"/>
            <a:ext cx="5790071" cy="1717844"/>
            <a:chOff x="0" y="0"/>
            <a:chExt cx="1929913" cy="5725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9913" cy="572582"/>
            </a:xfrm>
            <a:custGeom>
              <a:avLst/>
              <a:gdLst/>
              <a:ahLst/>
              <a:cxnLst/>
              <a:rect r="r" b="b" t="t" l="l"/>
              <a:pathLst>
                <a:path h="572582" w="1929913">
                  <a:moveTo>
                    <a:pt x="0" y="0"/>
                  </a:moveTo>
                  <a:lnTo>
                    <a:pt x="1929913" y="0"/>
                  </a:lnTo>
                  <a:lnTo>
                    <a:pt x="1929913" y="572582"/>
                  </a:lnTo>
                  <a:lnTo>
                    <a:pt x="0" y="572582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29913" cy="59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10741914" y="-3252602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9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9" y="16235139"/>
                </a:lnTo>
                <a:lnTo>
                  <a:pt x="16235139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53164" y="1189894"/>
            <a:ext cx="717581" cy="844471"/>
          </a:xfrm>
          <a:custGeom>
            <a:avLst/>
            <a:gdLst/>
            <a:ahLst/>
            <a:cxnLst/>
            <a:rect r="r" b="b" t="t" l="l"/>
            <a:pathLst>
              <a:path h="844471" w="717581">
                <a:moveTo>
                  <a:pt x="0" y="0"/>
                </a:moveTo>
                <a:lnTo>
                  <a:pt x="717582" y="0"/>
                </a:lnTo>
                <a:lnTo>
                  <a:pt x="717582" y="844471"/>
                </a:lnTo>
                <a:lnTo>
                  <a:pt x="0" y="8444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2049" y="8754671"/>
            <a:ext cx="5408361" cy="493362"/>
          </a:xfrm>
          <a:custGeom>
            <a:avLst/>
            <a:gdLst/>
            <a:ahLst/>
            <a:cxnLst/>
            <a:rect r="r" b="b" t="t" l="l"/>
            <a:pathLst>
              <a:path h="493362" w="5408361">
                <a:moveTo>
                  <a:pt x="0" y="0"/>
                </a:moveTo>
                <a:lnTo>
                  <a:pt x="5408361" y="0"/>
                </a:lnTo>
                <a:lnTo>
                  <a:pt x="5408361" y="493361"/>
                </a:lnTo>
                <a:lnTo>
                  <a:pt x="0" y="4933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85309" y="1439346"/>
            <a:ext cx="2807763" cy="256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5"/>
              </a:lnSpc>
              <a:spcBef>
                <a:spcPct val="0"/>
              </a:spcBef>
            </a:pPr>
            <a:r>
              <a:rPr lang="en-US" b="true" sz="1806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Phishing Awareness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630080" y="1189894"/>
            <a:ext cx="822214" cy="21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6"/>
              </a:lnSpc>
              <a:spcBef>
                <a:spcPct val="0"/>
              </a:spcBef>
            </a:pPr>
            <a:r>
              <a:rPr lang="en-US" b="true" sz="1445" spc="15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03/12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53489" y="8821647"/>
            <a:ext cx="3772302" cy="2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4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212108" y="2164934"/>
            <a:ext cx="2446146" cy="921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188"/>
              </a:lnSpc>
              <a:spcBef>
                <a:spcPct val="0"/>
              </a:spcBef>
            </a:pPr>
            <a:r>
              <a:rPr lang="en-US" b="true" sz="6197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PROJECT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58254" y="2183984"/>
            <a:ext cx="4625621" cy="1447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53"/>
              </a:lnSpc>
              <a:spcBef>
                <a:spcPct val="0"/>
              </a:spcBef>
            </a:pPr>
            <a:r>
              <a:rPr lang="en-US" sz="9787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OBJECTIVES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992013" y="3871495"/>
            <a:ext cx="2108633" cy="2108633"/>
            <a:chOff x="0" y="0"/>
            <a:chExt cx="14840029" cy="148400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9"/>
              <a:stretch>
                <a:fillRect l="-24642" t="0" r="-24642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4339334" y="4714570"/>
            <a:ext cx="3948001" cy="52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1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Create realistic phishing scenarios to test organizational vulnerability and measure response effectiveness.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39334" y="4191953"/>
            <a:ext cx="2541076" cy="24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8"/>
              </a:lnSpc>
              <a:spcBef>
                <a:spcPct val="0"/>
              </a:spcBef>
            </a:pPr>
            <a:r>
              <a:rPr lang="en-US" b="true" sz="1593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Simulate Phishing Attack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3058880" y="6359200"/>
            <a:ext cx="5829722" cy="1717844"/>
            <a:chOff x="0" y="0"/>
            <a:chExt cx="1943129" cy="57258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43129" cy="572582"/>
            </a:xfrm>
            <a:custGeom>
              <a:avLst/>
              <a:gdLst/>
              <a:ahLst/>
              <a:cxnLst/>
              <a:rect r="r" b="b" t="t" l="l"/>
              <a:pathLst>
                <a:path h="572582" w="1943129">
                  <a:moveTo>
                    <a:pt x="0" y="0"/>
                  </a:moveTo>
                  <a:lnTo>
                    <a:pt x="1943129" y="0"/>
                  </a:lnTo>
                  <a:lnTo>
                    <a:pt x="1943129" y="572582"/>
                  </a:lnTo>
                  <a:lnTo>
                    <a:pt x="0" y="572582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943129" cy="59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952362" y="6163806"/>
            <a:ext cx="2108633" cy="2108633"/>
            <a:chOff x="0" y="0"/>
            <a:chExt cx="14840029" cy="148400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0"/>
              <a:stretch>
                <a:fillRect l="223" t="0" r="223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4299683" y="6994469"/>
            <a:ext cx="3987652" cy="3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1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Analyze how users interact with suspicious emails and identify common behavioral patterns and weaknesses.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99683" y="6484263"/>
            <a:ext cx="2478300" cy="24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8"/>
              </a:lnSpc>
              <a:spcBef>
                <a:spcPct val="0"/>
              </a:spcBef>
            </a:pPr>
            <a:r>
              <a:rPr lang="en-US" b="true" sz="1593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Study User Behavior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472088" y="4066889"/>
            <a:ext cx="5790071" cy="1717844"/>
            <a:chOff x="0" y="0"/>
            <a:chExt cx="1929913" cy="57258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29913" cy="572582"/>
            </a:xfrm>
            <a:custGeom>
              <a:avLst/>
              <a:gdLst/>
              <a:ahLst/>
              <a:cxnLst/>
              <a:rect r="r" b="b" t="t" l="l"/>
              <a:pathLst>
                <a:path h="572582" w="1929913">
                  <a:moveTo>
                    <a:pt x="0" y="0"/>
                  </a:moveTo>
                  <a:lnTo>
                    <a:pt x="1929913" y="0"/>
                  </a:lnTo>
                  <a:lnTo>
                    <a:pt x="1929913" y="572582"/>
                  </a:lnTo>
                  <a:lnTo>
                    <a:pt x="0" y="572582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929913" cy="59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9365570" y="3871495"/>
            <a:ext cx="2108633" cy="2108633"/>
            <a:chOff x="0" y="0"/>
            <a:chExt cx="14840029" cy="148400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1"/>
              <a:stretch>
                <a:fillRect l="223" t="0" r="223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1712891" y="4714570"/>
            <a:ext cx="3948001" cy="3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1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Educate employees on recognizing phishing attempts and implementing security best practices.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432437" y="6359200"/>
            <a:ext cx="5829722" cy="1717844"/>
            <a:chOff x="0" y="0"/>
            <a:chExt cx="1943129" cy="57258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43129" cy="572582"/>
            </a:xfrm>
            <a:custGeom>
              <a:avLst/>
              <a:gdLst/>
              <a:ahLst/>
              <a:cxnLst/>
              <a:rect r="r" b="b" t="t" l="l"/>
              <a:pathLst>
                <a:path h="572582" w="1943129">
                  <a:moveTo>
                    <a:pt x="0" y="0"/>
                  </a:moveTo>
                  <a:lnTo>
                    <a:pt x="1943129" y="0"/>
                  </a:lnTo>
                  <a:lnTo>
                    <a:pt x="1943129" y="572582"/>
                  </a:lnTo>
                  <a:lnTo>
                    <a:pt x="0" y="572582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943129" cy="59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>
            <a:grpSpLocks noChangeAspect="true"/>
          </p:cNvGrpSpPr>
          <p:nvPr/>
        </p:nvGrpSpPr>
        <p:grpSpPr>
          <a:xfrm rot="0">
            <a:off x="9325919" y="6163806"/>
            <a:ext cx="2108633" cy="2108633"/>
            <a:chOff x="0" y="0"/>
            <a:chExt cx="14840029" cy="1484002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2"/>
              <a:stretch>
                <a:fillRect l="223" t="0" r="223" b="0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1673240" y="6994469"/>
            <a:ext cx="3987652" cy="3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1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Research and document various social engineering methods used in modern phishing campaigns.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673240" y="6484263"/>
            <a:ext cx="2478300" cy="24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8"/>
              </a:lnSpc>
              <a:spcBef>
                <a:spcPct val="0"/>
              </a:spcBef>
            </a:pPr>
            <a:r>
              <a:rPr lang="en-US" b="true" sz="1593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Understand Techniques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712891" y="4208514"/>
            <a:ext cx="2541076" cy="24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8"/>
              </a:lnSpc>
              <a:spcBef>
                <a:spcPct val="0"/>
              </a:spcBef>
            </a:pPr>
            <a:r>
              <a:rPr lang="en-US" b="true" sz="1593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Promote Awareness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98531" y="4066889"/>
            <a:ext cx="5790071" cy="1717844"/>
            <a:chOff x="0" y="0"/>
            <a:chExt cx="1929913" cy="5725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9913" cy="572582"/>
            </a:xfrm>
            <a:custGeom>
              <a:avLst/>
              <a:gdLst/>
              <a:ahLst/>
              <a:cxnLst/>
              <a:rect r="r" b="b" t="t" l="l"/>
              <a:pathLst>
                <a:path h="572582" w="1929913">
                  <a:moveTo>
                    <a:pt x="0" y="0"/>
                  </a:moveTo>
                  <a:lnTo>
                    <a:pt x="1929913" y="0"/>
                  </a:lnTo>
                  <a:lnTo>
                    <a:pt x="1929913" y="572582"/>
                  </a:lnTo>
                  <a:lnTo>
                    <a:pt x="0" y="572582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29913" cy="59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7549683" y="-2928958"/>
            <a:ext cx="49704502" cy="16402486"/>
          </a:xfrm>
          <a:custGeom>
            <a:avLst/>
            <a:gdLst/>
            <a:ahLst/>
            <a:cxnLst/>
            <a:rect r="r" b="b" t="t" l="l"/>
            <a:pathLst>
              <a:path h="16402486" w="49704502">
                <a:moveTo>
                  <a:pt x="0" y="0"/>
                </a:moveTo>
                <a:lnTo>
                  <a:pt x="49704502" y="0"/>
                </a:lnTo>
                <a:lnTo>
                  <a:pt x="49704502" y="16402486"/>
                </a:lnTo>
                <a:lnTo>
                  <a:pt x="0" y="16402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54716" y="1218518"/>
            <a:ext cx="712891" cy="859663"/>
          </a:xfrm>
          <a:custGeom>
            <a:avLst/>
            <a:gdLst/>
            <a:ahLst/>
            <a:cxnLst/>
            <a:rect r="r" b="b" t="t" l="l"/>
            <a:pathLst>
              <a:path h="859663" w="712891">
                <a:moveTo>
                  <a:pt x="0" y="0"/>
                </a:moveTo>
                <a:lnTo>
                  <a:pt x="712891" y="0"/>
                </a:lnTo>
                <a:lnTo>
                  <a:pt x="712891" y="859663"/>
                </a:lnTo>
                <a:lnTo>
                  <a:pt x="0" y="8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85309" y="1439346"/>
            <a:ext cx="2807763" cy="256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5"/>
              </a:lnSpc>
              <a:spcBef>
                <a:spcPct val="0"/>
              </a:spcBef>
            </a:pPr>
            <a:r>
              <a:rPr lang="en-US" b="true" sz="1806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Phishing Awareness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630080" y="1189894"/>
            <a:ext cx="822214" cy="21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6"/>
              </a:lnSpc>
              <a:spcBef>
                <a:spcPct val="0"/>
              </a:spcBef>
            </a:pPr>
            <a:r>
              <a:rPr lang="en-US" b="true" sz="1445" spc="15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04/12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12108" y="2164934"/>
            <a:ext cx="2446146" cy="77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052"/>
              </a:lnSpc>
              <a:spcBef>
                <a:spcPct val="0"/>
              </a:spcBef>
            </a:pPr>
            <a:r>
              <a:rPr lang="en-US" b="true" sz="5217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COMMON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58254" y="2164934"/>
            <a:ext cx="4625621" cy="153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052"/>
              </a:lnSpc>
              <a:spcBef>
                <a:spcPct val="0"/>
              </a:spcBef>
            </a:pPr>
            <a:r>
              <a:rPr lang="en-US" sz="5217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PHISHING TECHNIQUES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992013" y="3871495"/>
            <a:ext cx="2108633" cy="2108633"/>
            <a:chOff x="0" y="0"/>
            <a:chExt cx="14840029" cy="148400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6"/>
              <a:stretch>
                <a:fillRect l="223" t="0" r="223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339334" y="4714570"/>
            <a:ext cx="3948001" cy="52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1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Fraudulent emails impersonating trusted sources to steal credentials, spread malware, or trick users into revealing sensitive information.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39334" y="4191953"/>
            <a:ext cx="2541076" cy="24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8"/>
              </a:lnSpc>
              <a:spcBef>
                <a:spcPct val="0"/>
              </a:spcBef>
            </a:pPr>
            <a:r>
              <a:rPr lang="en-US" b="true" sz="1593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Email Phishing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058880" y="6359200"/>
            <a:ext cx="5829722" cy="1717844"/>
            <a:chOff x="0" y="0"/>
            <a:chExt cx="1943129" cy="5725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43129" cy="572582"/>
            </a:xfrm>
            <a:custGeom>
              <a:avLst/>
              <a:gdLst/>
              <a:ahLst/>
              <a:cxnLst/>
              <a:rect r="r" b="b" t="t" l="l"/>
              <a:pathLst>
                <a:path h="572582" w="1943129">
                  <a:moveTo>
                    <a:pt x="0" y="0"/>
                  </a:moveTo>
                  <a:lnTo>
                    <a:pt x="1943129" y="0"/>
                  </a:lnTo>
                  <a:lnTo>
                    <a:pt x="1943129" y="572582"/>
                  </a:lnTo>
                  <a:lnTo>
                    <a:pt x="0" y="572582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943129" cy="59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952362" y="6163806"/>
            <a:ext cx="2108633" cy="2108633"/>
            <a:chOff x="0" y="0"/>
            <a:chExt cx="14840029" cy="148400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-24712" t="0" r="-24712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4299683" y="6994469"/>
            <a:ext cx="3987652" cy="52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1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Targeted attacks using personalized information about specific individuals or organizations to increase credibility and success rates.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99683" y="6484263"/>
            <a:ext cx="2478300" cy="24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8"/>
              </a:lnSpc>
              <a:spcBef>
                <a:spcPct val="0"/>
              </a:spcBef>
            </a:pPr>
            <a:r>
              <a:rPr lang="en-US" b="true" sz="1593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Spear Phishing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472088" y="4066889"/>
            <a:ext cx="5790071" cy="1717844"/>
            <a:chOff x="0" y="0"/>
            <a:chExt cx="1929913" cy="57258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29913" cy="572582"/>
            </a:xfrm>
            <a:custGeom>
              <a:avLst/>
              <a:gdLst/>
              <a:ahLst/>
              <a:cxnLst/>
              <a:rect r="r" b="b" t="t" l="l"/>
              <a:pathLst>
                <a:path h="572582" w="1929913">
                  <a:moveTo>
                    <a:pt x="0" y="0"/>
                  </a:moveTo>
                  <a:lnTo>
                    <a:pt x="1929913" y="0"/>
                  </a:lnTo>
                  <a:lnTo>
                    <a:pt x="1929913" y="572582"/>
                  </a:lnTo>
                  <a:lnTo>
                    <a:pt x="0" y="572582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929913" cy="59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>
            <a:grpSpLocks noChangeAspect="true"/>
          </p:cNvGrpSpPr>
          <p:nvPr/>
        </p:nvGrpSpPr>
        <p:grpSpPr>
          <a:xfrm rot="0">
            <a:off x="9365570" y="3871495"/>
            <a:ext cx="2108633" cy="2108633"/>
            <a:chOff x="0" y="0"/>
            <a:chExt cx="14840029" cy="1484002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8"/>
              <a:stretch>
                <a:fillRect l="223" t="-25046" r="223" b="-25046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712891" y="4714570"/>
            <a:ext cx="3948001" cy="52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1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Counterfeit websites mimicking legitimate services to capture usernames, passwords, and other authentication credentials.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432437" y="6359200"/>
            <a:ext cx="5829722" cy="1717844"/>
            <a:chOff x="0" y="0"/>
            <a:chExt cx="1943129" cy="57258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43129" cy="572582"/>
            </a:xfrm>
            <a:custGeom>
              <a:avLst/>
              <a:gdLst/>
              <a:ahLst/>
              <a:cxnLst/>
              <a:rect r="r" b="b" t="t" l="l"/>
              <a:pathLst>
                <a:path h="572582" w="1943129">
                  <a:moveTo>
                    <a:pt x="0" y="0"/>
                  </a:moveTo>
                  <a:lnTo>
                    <a:pt x="1943129" y="0"/>
                  </a:lnTo>
                  <a:lnTo>
                    <a:pt x="1943129" y="572582"/>
                  </a:lnTo>
                  <a:lnTo>
                    <a:pt x="0" y="572582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943129" cy="59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>
            <a:grpSpLocks noChangeAspect="true"/>
          </p:cNvGrpSpPr>
          <p:nvPr/>
        </p:nvGrpSpPr>
        <p:grpSpPr>
          <a:xfrm rot="0">
            <a:off x="9325919" y="6163806"/>
            <a:ext cx="2108633" cy="2108633"/>
            <a:chOff x="0" y="0"/>
            <a:chExt cx="14840029" cy="1484002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9"/>
              <a:stretch>
                <a:fillRect l="223" t="0" r="223" b="0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1673240" y="6994469"/>
            <a:ext cx="3987652" cy="52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1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Phishing via text messages containing malicious links or urgent requests for personal data and financial information.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673240" y="6484263"/>
            <a:ext cx="2478300" cy="24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8"/>
              </a:lnSpc>
              <a:spcBef>
                <a:spcPct val="0"/>
              </a:spcBef>
            </a:pPr>
            <a:r>
              <a:rPr lang="en-US" b="true" sz="1593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SMS Phishing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712891" y="4208514"/>
            <a:ext cx="2541076" cy="24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8"/>
              </a:lnSpc>
              <a:spcBef>
                <a:spcPct val="0"/>
              </a:spcBef>
            </a:pPr>
            <a:r>
              <a:rPr lang="en-US" b="true" sz="1593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Fake Login Pages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469132" y="-2543025"/>
            <a:ext cx="15346639" cy="15346639"/>
          </a:xfrm>
          <a:custGeom>
            <a:avLst/>
            <a:gdLst/>
            <a:ahLst/>
            <a:cxnLst/>
            <a:rect r="r" b="b" t="t" l="l"/>
            <a:pathLst>
              <a:path h="15346639" w="15346639">
                <a:moveTo>
                  <a:pt x="0" y="0"/>
                </a:moveTo>
                <a:lnTo>
                  <a:pt x="15346639" y="0"/>
                </a:lnTo>
                <a:lnTo>
                  <a:pt x="15346639" y="15346639"/>
                </a:lnTo>
                <a:lnTo>
                  <a:pt x="0" y="15346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68831" y="1246011"/>
            <a:ext cx="685717" cy="822861"/>
          </a:xfrm>
          <a:custGeom>
            <a:avLst/>
            <a:gdLst/>
            <a:ahLst/>
            <a:cxnLst/>
            <a:rect r="r" b="b" t="t" l="l"/>
            <a:pathLst>
              <a:path h="822861" w="685717">
                <a:moveTo>
                  <a:pt x="0" y="0"/>
                </a:moveTo>
                <a:lnTo>
                  <a:pt x="685718" y="0"/>
                </a:lnTo>
                <a:lnTo>
                  <a:pt x="685718" y="822861"/>
                </a:lnTo>
                <a:lnTo>
                  <a:pt x="0" y="822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72049" y="2520315"/>
            <a:ext cx="4508599" cy="5246370"/>
            <a:chOff x="0" y="0"/>
            <a:chExt cx="6985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6"/>
              <a:stretch>
                <a:fillRect l="-53204" t="0" r="-532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353006" y="1794438"/>
            <a:ext cx="1678544" cy="1953215"/>
            <a:chOff x="0" y="0"/>
            <a:chExt cx="6985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l="0" t="-3129" r="0" b="-312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186519" y="6615217"/>
            <a:ext cx="1678544" cy="1953215"/>
            <a:chOff x="0" y="0"/>
            <a:chExt cx="6985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8"/>
              <a:stretch>
                <a:fillRect l="0" t="-3129" r="0" b="-312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95218" y="5573710"/>
            <a:ext cx="1790091" cy="2083015"/>
            <a:chOff x="0" y="0"/>
            <a:chExt cx="6985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2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685309" y="1429821"/>
            <a:ext cx="2807763" cy="24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b="true" sz="1644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Phishing Awareness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30080" y="1189894"/>
            <a:ext cx="822214" cy="19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26"/>
              </a:lnSpc>
              <a:spcBef>
                <a:spcPct val="0"/>
              </a:spcBef>
            </a:pPr>
            <a:r>
              <a:rPr lang="en-US" b="true" sz="1315" spc="136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05/12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03586" y="3698058"/>
            <a:ext cx="5259509" cy="1575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41"/>
              </a:lnSpc>
              <a:spcBef>
                <a:spcPct val="0"/>
              </a:spcBef>
            </a:pPr>
            <a:r>
              <a:rPr lang="en-US" b="true" sz="10638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ATTACK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18995" y="5043051"/>
            <a:ext cx="5488451" cy="1575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41"/>
              </a:lnSpc>
              <a:spcBef>
                <a:spcPct val="0"/>
              </a:spcBef>
            </a:pPr>
            <a:r>
              <a:rPr lang="en-US" sz="10638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VECTORS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01442" y="2759783"/>
            <a:ext cx="4752807" cy="703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8"/>
              </a:lnSpc>
              <a:spcBef>
                <a:spcPct val="0"/>
              </a:spcBef>
            </a:pPr>
            <a:r>
              <a:rPr lang="en-US" b="true" sz="1576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Attackers embed malicious URLs in emails that redirect users to fake websites designed to steal credentials or install malware.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321694" y="2120350"/>
            <a:ext cx="666614" cy="66661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801442" y="2271602"/>
            <a:ext cx="1629236" cy="24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8"/>
              </a:lnSpc>
              <a:spcBef>
                <a:spcPct val="0"/>
              </a:spcBef>
            </a:pPr>
            <a:r>
              <a:rPr lang="en-US" b="true" sz="1576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Malicious Links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01442" y="4936224"/>
            <a:ext cx="4752807" cy="703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8"/>
              </a:lnSpc>
              <a:spcBef>
                <a:spcPct val="0"/>
              </a:spcBef>
            </a:pPr>
            <a:r>
              <a:rPr lang="en-US" b="true" sz="1576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Fake login pages mimic legitimate sites to capture usernames and passwords, which attackers use for unauthorized access.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321694" y="4296791"/>
            <a:ext cx="666614" cy="66661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801442" y="4448044"/>
            <a:ext cx="2939121" cy="24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8"/>
              </a:lnSpc>
              <a:spcBef>
                <a:spcPct val="0"/>
              </a:spcBef>
            </a:pPr>
            <a:r>
              <a:rPr lang="en-US" b="true" sz="1576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Credential Harvesting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01442" y="7112666"/>
            <a:ext cx="4752807" cy="703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8"/>
              </a:lnSpc>
              <a:spcBef>
                <a:spcPct val="0"/>
              </a:spcBef>
            </a:pPr>
            <a:r>
              <a:rPr lang="en-US" b="true" sz="1576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Phishing emails often contain infected attachments like PDFs or Office documents that execute malicious code when opened.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321694" y="6473232"/>
            <a:ext cx="666614" cy="666614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801442" y="6624485"/>
            <a:ext cx="1931517" cy="24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8"/>
              </a:lnSpc>
              <a:spcBef>
                <a:spcPct val="0"/>
              </a:spcBef>
            </a:pPr>
            <a:r>
              <a:rPr lang="en-US" b="true" sz="1576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Attachment Attacks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685480"/>
            <a:ext cx="18288000" cy="8245849"/>
          </a:xfrm>
          <a:custGeom>
            <a:avLst/>
            <a:gdLst/>
            <a:ahLst/>
            <a:cxnLst/>
            <a:rect r="r" b="b" t="t" l="l"/>
            <a:pathLst>
              <a:path h="8245849" w="18288000">
                <a:moveTo>
                  <a:pt x="0" y="0"/>
                </a:moveTo>
                <a:lnTo>
                  <a:pt x="18288000" y="0"/>
                </a:lnTo>
                <a:lnTo>
                  <a:pt x="18288000" y="8245849"/>
                </a:lnTo>
                <a:lnTo>
                  <a:pt x="0" y="8245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2" t="0" r="-412" b="-314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40283" y="318787"/>
            <a:ext cx="13207435" cy="3435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12"/>
              </a:lnSpc>
            </a:pPr>
            <a:r>
              <a:rPr lang="en-US" sz="751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Simulated Phishing Email</a:t>
            </a:r>
          </a:p>
          <a:p>
            <a:pPr algn="ctr">
              <a:lnSpc>
                <a:spcPts val="9012"/>
              </a:lnSpc>
            </a:pPr>
          </a:p>
          <a:p>
            <a:pPr algn="ctr" marL="0" indent="0" lvl="0">
              <a:lnSpc>
                <a:spcPts val="90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829119" y="-4161270"/>
            <a:ext cx="24828629" cy="16813334"/>
          </a:xfrm>
          <a:custGeom>
            <a:avLst/>
            <a:gdLst/>
            <a:ahLst/>
            <a:cxnLst/>
            <a:rect r="r" b="b" t="t" l="l"/>
            <a:pathLst>
              <a:path h="16813334" w="24828629">
                <a:moveTo>
                  <a:pt x="0" y="0"/>
                </a:moveTo>
                <a:lnTo>
                  <a:pt x="24828630" y="0"/>
                </a:lnTo>
                <a:lnTo>
                  <a:pt x="24828630" y="16813334"/>
                </a:lnTo>
                <a:lnTo>
                  <a:pt x="0" y="16813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85082" y="1214978"/>
            <a:ext cx="652907" cy="855937"/>
          </a:xfrm>
          <a:custGeom>
            <a:avLst/>
            <a:gdLst/>
            <a:ahLst/>
            <a:cxnLst/>
            <a:rect r="r" b="b" t="t" l="l"/>
            <a:pathLst>
              <a:path h="855937" w="652907">
                <a:moveTo>
                  <a:pt x="0" y="0"/>
                </a:moveTo>
                <a:lnTo>
                  <a:pt x="652908" y="0"/>
                </a:lnTo>
                <a:lnTo>
                  <a:pt x="652908" y="855936"/>
                </a:lnTo>
                <a:lnTo>
                  <a:pt x="0" y="855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70833" y="4060098"/>
            <a:ext cx="7116792" cy="4114800"/>
          </a:xfrm>
          <a:custGeom>
            <a:avLst/>
            <a:gdLst/>
            <a:ahLst/>
            <a:cxnLst/>
            <a:rect r="r" b="b" t="t" l="l"/>
            <a:pathLst>
              <a:path h="4114800" w="7116792">
                <a:moveTo>
                  <a:pt x="0" y="0"/>
                </a:moveTo>
                <a:lnTo>
                  <a:pt x="7116792" y="0"/>
                </a:lnTo>
                <a:lnTo>
                  <a:pt x="71167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977851" y="4271007"/>
            <a:ext cx="3692982" cy="3692982"/>
            <a:chOff x="0" y="0"/>
            <a:chExt cx="14840029" cy="148400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8"/>
              <a:stretch>
                <a:fillRect l="-24712" t="0" r="-2471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685309" y="1429821"/>
            <a:ext cx="2807763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9"/>
              </a:lnSpc>
              <a:spcBef>
                <a:spcPct val="0"/>
              </a:spcBef>
            </a:pPr>
            <a:r>
              <a:rPr lang="en-US" b="true" sz="224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Methodology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630080" y="1199419"/>
            <a:ext cx="822214" cy="25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8"/>
              </a:lnSpc>
              <a:spcBef>
                <a:spcPct val="0"/>
              </a:spcBef>
            </a:pPr>
            <a:r>
              <a:rPr lang="en-US" b="true" sz="1800" spc="18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06/12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66287" y="2183984"/>
            <a:ext cx="4394179" cy="1150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081"/>
              </a:lnSpc>
              <a:spcBef>
                <a:spcPct val="0"/>
              </a:spcBef>
            </a:pPr>
            <a:r>
              <a:rPr lang="en-US" b="true" sz="7829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SIMULATION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12778" y="2583309"/>
            <a:ext cx="6187406" cy="154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047"/>
              </a:lnSpc>
              <a:spcBef>
                <a:spcPct val="0"/>
              </a:spcBef>
            </a:pPr>
            <a:r>
              <a:rPr lang="en-US" sz="10386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SETUP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2937098" y="4271007"/>
            <a:ext cx="3692982" cy="3692982"/>
            <a:chOff x="0" y="0"/>
            <a:chExt cx="14840029" cy="148400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9"/>
              <a:stretch>
                <a:fillRect l="223" t="0" r="223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367562" y="4683668"/>
            <a:ext cx="5872806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5"/>
              </a:lnSpc>
              <a:spcBef>
                <a:spcPct val="0"/>
              </a:spcBef>
            </a:pPr>
            <a:r>
              <a:rPr lang="en-US" b="true" sz="1875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Our phishing simulation leverages GitHub Pages to host convincing fake login pages that mimic legitimate services. User interactions and credential submissions are captured through Google Forms integration, enabling real-time data collection and analysis. This approach allows safe, controlled testing of user awareness without actual security risks.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79486" y="4569497"/>
            <a:ext cx="1148007" cy="114800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300184" y="7190525"/>
            <a:ext cx="1148007" cy="114800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221975"/>
            <a:ext cx="8324850" cy="9065025"/>
            <a:chOff x="0" y="0"/>
            <a:chExt cx="1515714" cy="1650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5714" cy="1650479"/>
            </a:xfrm>
            <a:custGeom>
              <a:avLst/>
              <a:gdLst/>
              <a:ahLst/>
              <a:cxnLst/>
              <a:rect r="r" b="b" t="t" l="l"/>
              <a:pathLst>
                <a:path h="1650479" w="1515714">
                  <a:moveTo>
                    <a:pt x="18600" y="0"/>
                  </a:moveTo>
                  <a:lnTo>
                    <a:pt x="1497115" y="0"/>
                  </a:lnTo>
                  <a:cubicBezTo>
                    <a:pt x="1502048" y="0"/>
                    <a:pt x="1506778" y="1960"/>
                    <a:pt x="1510267" y="5448"/>
                  </a:cubicBezTo>
                  <a:cubicBezTo>
                    <a:pt x="1513755" y="8936"/>
                    <a:pt x="1515714" y="13667"/>
                    <a:pt x="1515714" y="18600"/>
                  </a:cubicBezTo>
                  <a:lnTo>
                    <a:pt x="1515714" y="1631879"/>
                  </a:lnTo>
                  <a:cubicBezTo>
                    <a:pt x="1515714" y="1636812"/>
                    <a:pt x="1513755" y="1641543"/>
                    <a:pt x="1510267" y="1645031"/>
                  </a:cubicBezTo>
                  <a:cubicBezTo>
                    <a:pt x="1506778" y="1648519"/>
                    <a:pt x="1502048" y="1650479"/>
                    <a:pt x="1497115" y="1650479"/>
                  </a:cubicBezTo>
                  <a:lnTo>
                    <a:pt x="18600" y="1650479"/>
                  </a:lnTo>
                  <a:cubicBezTo>
                    <a:pt x="13667" y="1650479"/>
                    <a:pt x="8936" y="1648519"/>
                    <a:pt x="5448" y="1645031"/>
                  </a:cubicBezTo>
                  <a:cubicBezTo>
                    <a:pt x="1960" y="1641543"/>
                    <a:pt x="0" y="1636812"/>
                    <a:pt x="0" y="1631879"/>
                  </a:cubicBezTo>
                  <a:lnTo>
                    <a:pt x="0" y="18600"/>
                  </a:lnTo>
                  <a:cubicBezTo>
                    <a:pt x="0" y="13667"/>
                    <a:pt x="1960" y="8936"/>
                    <a:pt x="5448" y="5448"/>
                  </a:cubicBezTo>
                  <a:cubicBezTo>
                    <a:pt x="8936" y="1960"/>
                    <a:pt x="13667" y="0"/>
                    <a:pt x="186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69" r="0" b="-196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96400" y="1221975"/>
            <a:ext cx="8680521" cy="9065025"/>
            <a:chOff x="0" y="0"/>
            <a:chExt cx="1580472" cy="16504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80472" cy="1650479"/>
            </a:xfrm>
            <a:custGeom>
              <a:avLst/>
              <a:gdLst/>
              <a:ahLst/>
              <a:cxnLst/>
              <a:rect r="r" b="b" t="t" l="l"/>
              <a:pathLst>
                <a:path h="1650479" w="1580472">
                  <a:moveTo>
                    <a:pt x="17837" y="0"/>
                  </a:moveTo>
                  <a:lnTo>
                    <a:pt x="1562634" y="0"/>
                  </a:lnTo>
                  <a:cubicBezTo>
                    <a:pt x="1567365" y="0"/>
                    <a:pt x="1571902" y="1879"/>
                    <a:pt x="1575247" y="5224"/>
                  </a:cubicBezTo>
                  <a:cubicBezTo>
                    <a:pt x="1578592" y="8570"/>
                    <a:pt x="1580472" y="13107"/>
                    <a:pt x="1580472" y="17837"/>
                  </a:cubicBezTo>
                  <a:lnTo>
                    <a:pt x="1580472" y="1632641"/>
                  </a:lnTo>
                  <a:cubicBezTo>
                    <a:pt x="1580472" y="1637372"/>
                    <a:pt x="1578592" y="1641909"/>
                    <a:pt x="1575247" y="1645254"/>
                  </a:cubicBezTo>
                  <a:cubicBezTo>
                    <a:pt x="1571902" y="1648599"/>
                    <a:pt x="1567365" y="1650479"/>
                    <a:pt x="1562634" y="1650479"/>
                  </a:cubicBezTo>
                  <a:lnTo>
                    <a:pt x="17837" y="1650479"/>
                  </a:lnTo>
                  <a:cubicBezTo>
                    <a:pt x="7986" y="1650479"/>
                    <a:pt x="0" y="1642493"/>
                    <a:pt x="0" y="1632641"/>
                  </a:cubicBezTo>
                  <a:lnTo>
                    <a:pt x="0" y="17837"/>
                  </a:lnTo>
                  <a:cubicBezTo>
                    <a:pt x="0" y="13107"/>
                    <a:pt x="1879" y="8570"/>
                    <a:pt x="5224" y="5224"/>
                  </a:cubicBezTo>
                  <a:cubicBezTo>
                    <a:pt x="8570" y="1879"/>
                    <a:pt x="13107" y="0"/>
                    <a:pt x="17837" y="0"/>
                  </a:cubicBezTo>
                  <a:close/>
                </a:path>
              </a:pathLst>
            </a:custGeom>
            <a:blipFill>
              <a:blip r:embed="rId3"/>
              <a:stretch>
                <a:fillRect l="-5834" t="0" r="-5834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90820" y="0"/>
            <a:ext cx="15306361" cy="206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3"/>
              </a:lnSpc>
            </a:pPr>
            <a:r>
              <a:rPr lang="en-US" sz="6761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Proj</a:t>
            </a:r>
            <a:r>
              <a:rPr lang="en-US" sz="6761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ect Development &amp; Hosting</a:t>
            </a:r>
          </a:p>
          <a:p>
            <a:pPr algn="ctr" marL="0" indent="0" lvl="0">
              <a:lnSpc>
                <a:spcPts val="811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78679" y="-3398453"/>
            <a:ext cx="18880425" cy="16260766"/>
          </a:xfrm>
          <a:custGeom>
            <a:avLst/>
            <a:gdLst/>
            <a:ahLst/>
            <a:cxnLst/>
            <a:rect r="r" b="b" t="t" l="l"/>
            <a:pathLst>
              <a:path h="16260766" w="18880425">
                <a:moveTo>
                  <a:pt x="0" y="0"/>
                </a:moveTo>
                <a:lnTo>
                  <a:pt x="18880425" y="0"/>
                </a:lnTo>
                <a:lnTo>
                  <a:pt x="18880425" y="16260766"/>
                </a:lnTo>
                <a:lnTo>
                  <a:pt x="0" y="16260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93833" y="1226856"/>
            <a:ext cx="634806" cy="852848"/>
          </a:xfrm>
          <a:custGeom>
            <a:avLst/>
            <a:gdLst/>
            <a:ahLst/>
            <a:cxnLst/>
            <a:rect r="r" b="b" t="t" l="l"/>
            <a:pathLst>
              <a:path h="852848" w="634806">
                <a:moveTo>
                  <a:pt x="0" y="0"/>
                </a:moveTo>
                <a:lnTo>
                  <a:pt x="634805" y="0"/>
                </a:lnTo>
                <a:lnTo>
                  <a:pt x="634805" y="852848"/>
                </a:lnTo>
                <a:lnTo>
                  <a:pt x="0" y="852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97752" y="2093858"/>
            <a:ext cx="4165202" cy="6598339"/>
          </a:xfrm>
          <a:custGeom>
            <a:avLst/>
            <a:gdLst/>
            <a:ahLst/>
            <a:cxnLst/>
            <a:rect r="r" b="b" t="t" l="l"/>
            <a:pathLst>
              <a:path h="6598339" w="4165202">
                <a:moveTo>
                  <a:pt x="0" y="0"/>
                </a:moveTo>
                <a:lnTo>
                  <a:pt x="4165202" y="0"/>
                </a:lnTo>
                <a:lnTo>
                  <a:pt x="4165202" y="6598339"/>
                </a:lnTo>
                <a:lnTo>
                  <a:pt x="0" y="65983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713146" y="2520315"/>
            <a:ext cx="3516651" cy="5716585"/>
            <a:chOff x="0" y="0"/>
            <a:chExt cx="544821" cy="8856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4821" cy="885649"/>
            </a:xfrm>
            <a:custGeom>
              <a:avLst/>
              <a:gdLst/>
              <a:ahLst/>
              <a:cxnLst/>
              <a:rect r="r" b="b" t="t" l="l"/>
              <a:pathLst>
                <a:path h="885649" w="544821">
                  <a:moveTo>
                    <a:pt x="0" y="0"/>
                  </a:moveTo>
                  <a:lnTo>
                    <a:pt x="544821" y="0"/>
                  </a:lnTo>
                  <a:lnTo>
                    <a:pt x="544821" y="885649"/>
                  </a:lnTo>
                  <a:lnTo>
                    <a:pt x="0" y="885649"/>
                  </a:lnTo>
                  <a:close/>
                </a:path>
              </a:pathLst>
            </a:custGeom>
            <a:blipFill>
              <a:blip r:embed="rId7"/>
              <a:stretch>
                <a:fillRect l="-4761" t="0" r="-476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685309" y="1439346"/>
            <a:ext cx="2807763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7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Phishing Awareness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630080" y="1189894"/>
            <a:ext cx="822214" cy="21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  <a:spcBef>
                <a:spcPct val="0"/>
              </a:spcBef>
            </a:pPr>
            <a:r>
              <a:rPr lang="en-US" b="true" sz="1440" spc="14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07/12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47842" y="3553773"/>
            <a:ext cx="5933544" cy="174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3643"/>
              </a:lnSpc>
              <a:spcBef>
                <a:spcPct val="0"/>
              </a:spcBef>
            </a:pPr>
            <a:r>
              <a:rPr lang="en-US" b="true" sz="11761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USER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47842" y="5031238"/>
            <a:ext cx="6537581" cy="118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355"/>
              </a:lnSpc>
              <a:spcBef>
                <a:spcPct val="0"/>
              </a:spcBef>
            </a:pPr>
            <a:r>
              <a:rPr lang="en-US" sz="8065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BEHAVIOR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52661" y="4155106"/>
            <a:ext cx="4752807" cy="198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724" b="tru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Participants interacted with the phishing awareness survey to evaluate phishing awareness and response behavior.</a:t>
            </a:r>
          </a:p>
          <a:p>
            <a:pPr algn="l">
              <a:lnSpc>
                <a:spcPts val="2000"/>
              </a:lnSpc>
            </a:pPr>
          </a:p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simulation demonstrated how users react to suspicious emails, fake login pages, and social engineering techniques in a controlled environment.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72913" y="3506148"/>
            <a:ext cx="666614" cy="66661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952661" y="3666925"/>
            <a:ext cx="3174228" cy="25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Use</a:t>
            </a:r>
            <a:r>
              <a:rPr lang="en-US" b="true" sz="1724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r Awareness Analysis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11236" y="7040283"/>
            <a:ext cx="4752807" cy="99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</a:t>
            </a:r>
            <a:r>
              <a:rPr lang="en-US" b="true" sz="1724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he phishing simulation demonstrated how users react to suspicious emails and fake login pages in a controlled awareness environment.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72913" y="6373669"/>
            <a:ext cx="666614" cy="66661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111236" y="6574816"/>
            <a:ext cx="3678030" cy="25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Credential Submission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414614" y="3845131"/>
            <a:ext cx="1148007" cy="114800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1515" y="0"/>
            <a:ext cx="17904969" cy="7946798"/>
            <a:chOff x="0" y="0"/>
            <a:chExt cx="1539871" cy="6834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9871" cy="683444"/>
            </a:xfrm>
            <a:custGeom>
              <a:avLst/>
              <a:gdLst/>
              <a:ahLst/>
              <a:cxnLst/>
              <a:rect r="r" b="b" t="t" l="l"/>
              <a:pathLst>
                <a:path h="683444" w="1539871">
                  <a:moveTo>
                    <a:pt x="0" y="0"/>
                  </a:moveTo>
                  <a:lnTo>
                    <a:pt x="1539871" y="0"/>
                  </a:lnTo>
                  <a:lnTo>
                    <a:pt x="1539871" y="683444"/>
                  </a:lnTo>
                  <a:lnTo>
                    <a:pt x="0" y="683444"/>
                  </a:lnTo>
                  <a:close/>
                </a:path>
              </a:pathLst>
            </a:custGeom>
            <a:blipFill>
              <a:blip r:embed="rId2"/>
              <a:stretch>
                <a:fillRect l="0" t="-7031" r="0" b="-703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91515" y="8210550"/>
            <a:ext cx="862965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Participants interacted with phishing awareness survey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8210550"/>
            <a:ext cx="862965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Responses analyzed for awareness patterns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80636" y="1219911"/>
            <a:ext cx="662644" cy="875584"/>
          </a:xfrm>
          <a:custGeom>
            <a:avLst/>
            <a:gdLst/>
            <a:ahLst/>
            <a:cxnLst/>
            <a:rect r="r" b="b" t="t" l="l"/>
            <a:pathLst>
              <a:path h="875584" w="662644">
                <a:moveTo>
                  <a:pt x="0" y="0"/>
                </a:moveTo>
                <a:lnTo>
                  <a:pt x="662644" y="0"/>
                </a:lnTo>
                <a:lnTo>
                  <a:pt x="662644" y="875584"/>
                </a:lnTo>
                <a:lnTo>
                  <a:pt x="0" y="8755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85309" y="1439346"/>
            <a:ext cx="2807763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7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Phishing Simulation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630080" y="1189894"/>
            <a:ext cx="822214" cy="21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  <a:spcBef>
                <a:spcPct val="0"/>
              </a:spcBef>
            </a:pPr>
            <a:r>
              <a:rPr lang="en-US" b="true" sz="1440" spc="14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08/12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55423" y="2183984"/>
            <a:ext cx="2227832" cy="154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047"/>
              </a:lnSpc>
              <a:spcBef>
                <a:spcPct val="0"/>
              </a:spcBef>
            </a:pPr>
            <a:r>
              <a:rPr lang="en-US" b="true" sz="10386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KEY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83254" y="2183984"/>
            <a:ext cx="4440894" cy="154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047"/>
              </a:lnSpc>
              <a:spcBef>
                <a:spcPct val="0"/>
              </a:spcBef>
            </a:pPr>
            <a:r>
              <a:rPr lang="en-US" sz="10386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FINDINGS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470746" y="3964928"/>
            <a:ext cx="3843838" cy="4472829"/>
            <a:chOff x="0" y="0"/>
            <a:chExt cx="6985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747447" y="3937811"/>
            <a:ext cx="3843838" cy="4472829"/>
            <a:chOff x="0" y="0"/>
            <a:chExt cx="6985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910263" y="3613526"/>
            <a:ext cx="1050230" cy="1222086"/>
            <a:chOff x="0" y="0"/>
            <a:chExt cx="6985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2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132081" y="3904786"/>
            <a:ext cx="701843" cy="57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b="true" sz="3879">
                <a:solidFill>
                  <a:srgbClr val="1D386D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70185" y="5990375"/>
            <a:ext cx="2844959" cy="60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98"/>
              </a:lnSpc>
              <a:spcBef>
                <a:spcPct val="0"/>
              </a:spcBef>
            </a:pPr>
            <a:r>
              <a:rPr lang="en-US" b="true" sz="1377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Several</a:t>
            </a:r>
            <a:r>
              <a:rPr lang="en-US" b="true" sz="1377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participants interacted with the simulated phishing email and awareness survey.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096667" y="3724467"/>
            <a:ext cx="1050230" cy="1222086"/>
            <a:chOff x="0" y="0"/>
            <a:chExt cx="6985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2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318486" y="4015726"/>
            <a:ext cx="701843" cy="57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b="true" sz="3879">
                <a:solidFill>
                  <a:srgbClr val="1D386D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97225" y="5990375"/>
            <a:ext cx="2844959" cy="60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98"/>
              </a:lnSpc>
              <a:spcBef>
                <a:spcPct val="0"/>
              </a:spcBef>
            </a:pPr>
            <a:r>
              <a:rPr lang="en-US" b="true" sz="1377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</a:t>
            </a:r>
            <a:r>
              <a:rPr lang="en-US" b="true" sz="1377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he project demonstrated how fake login pages can appear convincing to users.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024148" y="3964928"/>
            <a:ext cx="3843838" cy="4472829"/>
            <a:chOff x="0" y="0"/>
            <a:chExt cx="6985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373368" y="3751584"/>
            <a:ext cx="1050230" cy="1222086"/>
            <a:chOff x="0" y="0"/>
            <a:chExt cx="6985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2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4595187" y="4042843"/>
            <a:ext cx="701843" cy="57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b="true" sz="3879">
                <a:solidFill>
                  <a:srgbClr val="1D386D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73926" y="6017492"/>
            <a:ext cx="2844959" cy="60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98"/>
              </a:lnSpc>
              <a:spcBef>
                <a:spcPct val="0"/>
              </a:spcBef>
            </a:pPr>
            <a:r>
              <a:rPr lang="en-US" b="true" sz="1377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</a:t>
            </a:r>
            <a:r>
              <a:rPr lang="en-US" b="true" sz="1377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 simulation highlighted the importance of cybersecurity awareness and email verification.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3198" y="1219642"/>
            <a:ext cx="717581" cy="885286"/>
          </a:xfrm>
          <a:custGeom>
            <a:avLst/>
            <a:gdLst/>
            <a:ahLst/>
            <a:cxnLst/>
            <a:rect r="r" b="b" t="t" l="l"/>
            <a:pathLst>
              <a:path h="885286" w="717581">
                <a:moveTo>
                  <a:pt x="0" y="0"/>
                </a:moveTo>
                <a:lnTo>
                  <a:pt x="717582" y="0"/>
                </a:lnTo>
                <a:lnTo>
                  <a:pt x="717582" y="885286"/>
                </a:lnTo>
                <a:lnTo>
                  <a:pt x="0" y="885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85309" y="1439346"/>
            <a:ext cx="2807763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7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Phishing Awareness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630080" y="1189894"/>
            <a:ext cx="822214" cy="21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  <a:spcBef>
                <a:spcPct val="0"/>
              </a:spcBef>
            </a:pPr>
            <a:r>
              <a:rPr lang="en-US" b="true" sz="1440" spc="14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09/12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65700" y="2760415"/>
            <a:ext cx="6275038" cy="154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047"/>
              </a:lnSpc>
              <a:spcBef>
                <a:spcPct val="0"/>
              </a:spcBef>
            </a:pPr>
            <a:r>
              <a:rPr lang="en-US" b="true" sz="10386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KEY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5700" y="4179448"/>
            <a:ext cx="5515670" cy="154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047"/>
              </a:lnSpc>
              <a:spcBef>
                <a:spcPct val="0"/>
              </a:spcBef>
            </a:pPr>
            <a:r>
              <a:rPr lang="en-US" sz="10386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CHALLENGES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65700" y="6005205"/>
            <a:ext cx="4752807" cy="99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Implementing phishing simulations requires careful navigation of technical hurdles and ethical boundaries to ensure effective yet responsible testing.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0" y="3296472"/>
            <a:ext cx="18751960" cy="1195812"/>
            <a:chOff x="0" y="0"/>
            <a:chExt cx="4938788" cy="3149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38788" cy="314946"/>
            </a:xfrm>
            <a:custGeom>
              <a:avLst/>
              <a:gdLst/>
              <a:ahLst/>
              <a:cxnLst/>
              <a:rect r="r" b="b" t="t" l="l"/>
              <a:pathLst>
                <a:path h="314946" w="4938788">
                  <a:moveTo>
                    <a:pt x="0" y="0"/>
                  </a:moveTo>
                  <a:lnTo>
                    <a:pt x="4938788" y="0"/>
                  </a:lnTo>
                  <a:lnTo>
                    <a:pt x="4938788" y="314946"/>
                  </a:lnTo>
                  <a:lnTo>
                    <a:pt x="0" y="314946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938788" cy="333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40738" y="2722315"/>
            <a:ext cx="2014483" cy="2344125"/>
            <a:chOff x="0" y="0"/>
            <a:chExt cx="6985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6"/>
              <a:stretch>
                <a:fillRect l="0" t="-3129" r="0" b="-3129"/>
              </a:stretch>
            </a:blipFill>
            <a:ln w="57150" cap="sq">
              <a:gradFill>
                <a:gsLst>
                  <a:gs pos="0">
                    <a:srgbClr val="243F81">
                      <a:alpha val="100000"/>
                    </a:srgbClr>
                  </a:gs>
                  <a:gs pos="100000">
                    <a:srgbClr val="28819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912020" y="5865320"/>
            <a:ext cx="18751960" cy="1195812"/>
            <a:chOff x="0" y="0"/>
            <a:chExt cx="4938788" cy="3149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38788" cy="314946"/>
            </a:xfrm>
            <a:custGeom>
              <a:avLst/>
              <a:gdLst/>
              <a:ahLst/>
              <a:cxnLst/>
              <a:rect r="r" b="b" t="t" l="l"/>
              <a:pathLst>
                <a:path h="314946" w="4938788">
                  <a:moveTo>
                    <a:pt x="0" y="0"/>
                  </a:moveTo>
                  <a:lnTo>
                    <a:pt x="4938788" y="0"/>
                  </a:lnTo>
                  <a:lnTo>
                    <a:pt x="4938788" y="314946"/>
                  </a:lnTo>
                  <a:lnTo>
                    <a:pt x="0" y="314946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938788" cy="333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140738" y="5291164"/>
            <a:ext cx="2014483" cy="2344125"/>
            <a:chOff x="0" y="0"/>
            <a:chExt cx="6985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l="0" t="-3129" r="0" b="-3129"/>
              </a:stretch>
            </a:blipFill>
            <a:ln w="57150" cap="sq">
              <a:gradFill>
                <a:gsLst>
                  <a:gs pos="0">
                    <a:srgbClr val="243F81">
                      <a:alpha val="100000"/>
                    </a:srgbClr>
                  </a:gs>
                  <a:gs pos="100000">
                    <a:srgbClr val="28819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0618196" y="3388473"/>
            <a:ext cx="6422991" cy="75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Creating realistic phishing scenarios while avoiding spam filters, maintaining GitHub hosting stability, and ensuring Google Forms data collection accuracy.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18196" y="2823075"/>
            <a:ext cx="4249005" cy="25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Technical Simulation Challenges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18196" y="5897905"/>
            <a:ext cx="6422991" cy="75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Balancing realistic social engineering techniques with participant consent, data privacy regulations, and institutional approval requirements.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18196" y="5332507"/>
            <a:ext cx="5575683" cy="25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Ethical Considerations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7828" y="557621"/>
            <a:ext cx="15952345" cy="8173072"/>
          </a:xfrm>
          <a:custGeom>
            <a:avLst/>
            <a:gdLst/>
            <a:ahLst/>
            <a:cxnLst/>
            <a:rect r="r" b="b" t="t" l="l"/>
            <a:pathLst>
              <a:path h="8173072" w="15952345">
                <a:moveTo>
                  <a:pt x="0" y="0"/>
                </a:moveTo>
                <a:lnTo>
                  <a:pt x="15952344" y="0"/>
                </a:lnTo>
                <a:lnTo>
                  <a:pt x="15952344" y="8173072"/>
                </a:lnTo>
                <a:lnTo>
                  <a:pt x="0" y="8173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2" r="-915" b="-24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51831" y="9077844"/>
            <a:ext cx="6492176" cy="34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  <a:spcBef>
                <a:spcPct val="0"/>
              </a:spcBef>
            </a:pPr>
            <a:r>
              <a:rPr lang="en-US" b="true" sz="2124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GitHub Pages Deployment &amp; Hosting Configuration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5928" y="1224897"/>
            <a:ext cx="711734" cy="864367"/>
          </a:xfrm>
          <a:custGeom>
            <a:avLst/>
            <a:gdLst/>
            <a:ahLst/>
            <a:cxnLst/>
            <a:rect r="r" b="b" t="t" l="l"/>
            <a:pathLst>
              <a:path h="864367" w="711734">
                <a:moveTo>
                  <a:pt x="0" y="0"/>
                </a:moveTo>
                <a:lnTo>
                  <a:pt x="711734" y="0"/>
                </a:lnTo>
                <a:lnTo>
                  <a:pt x="711734" y="864367"/>
                </a:lnTo>
                <a:lnTo>
                  <a:pt x="0" y="8643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5351285" y="4076892"/>
            <a:ext cx="7585430" cy="4350911"/>
            <a:chOff x="0" y="0"/>
            <a:chExt cx="7981950" cy="45783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6"/>
              <a:stretch>
                <a:fillRect l="0" t="-3827" r="0" b="-3827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685309" y="1439346"/>
            <a:ext cx="2807763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7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Phishing Awareness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630080" y="1189894"/>
            <a:ext cx="822214" cy="21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  <a:spcBef>
                <a:spcPct val="0"/>
              </a:spcBef>
            </a:pPr>
            <a:r>
              <a:rPr lang="en-US" b="true" sz="1440" spc="14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10/12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15753" y="2183984"/>
            <a:ext cx="5401782" cy="143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258"/>
              </a:lnSpc>
              <a:spcBef>
                <a:spcPct val="0"/>
              </a:spcBef>
            </a:pPr>
            <a:r>
              <a:rPr lang="en-US" b="true" sz="9705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PREVENTION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36585" y="2422146"/>
            <a:ext cx="2324927" cy="154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047"/>
              </a:lnSpc>
              <a:spcBef>
                <a:spcPct val="0"/>
              </a:spcBef>
            </a:pPr>
            <a:r>
              <a:rPr lang="en-US" sz="10386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TIPS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404623" y="3808746"/>
            <a:ext cx="5184540" cy="4484627"/>
          </a:xfrm>
          <a:custGeom>
            <a:avLst/>
            <a:gdLst/>
            <a:ahLst/>
            <a:cxnLst/>
            <a:rect r="r" b="b" t="t" l="l"/>
            <a:pathLst>
              <a:path h="4484627" w="5184540">
                <a:moveTo>
                  <a:pt x="0" y="0"/>
                </a:moveTo>
                <a:lnTo>
                  <a:pt x="5184540" y="0"/>
                </a:lnTo>
                <a:lnTo>
                  <a:pt x="5184540" y="4484627"/>
                </a:lnTo>
                <a:lnTo>
                  <a:pt x="0" y="44846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3000"/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2025070" y="6333672"/>
            <a:ext cx="2914682" cy="1989270"/>
          </a:xfrm>
          <a:custGeom>
            <a:avLst/>
            <a:gdLst/>
            <a:ahLst/>
            <a:cxnLst/>
            <a:rect r="r" b="b" t="t" l="l"/>
            <a:pathLst>
              <a:path h="1989270" w="2914682">
                <a:moveTo>
                  <a:pt x="0" y="0"/>
                </a:moveTo>
                <a:lnTo>
                  <a:pt x="2914682" y="0"/>
                </a:lnTo>
                <a:lnTo>
                  <a:pt x="2914682" y="1989271"/>
                </a:lnTo>
                <a:lnTo>
                  <a:pt x="0" y="19892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3000"/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775264" y="5143500"/>
            <a:ext cx="666614" cy="66661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255012" y="5304277"/>
            <a:ext cx="4249005" cy="25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Email Verification Techniques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55012" y="5924414"/>
            <a:ext cx="4249005" cy="89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88"/>
              </a:lnSpc>
              <a:spcBef>
                <a:spcPct val="0"/>
              </a:spcBef>
            </a:pPr>
            <a:r>
              <a:rPr lang="en-US" b="true" sz="1542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Always verify sender addresses carefully. Check for misspellings and suspicious domains. Hover over links before clicking to preview URLs.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439247" y="5143500"/>
            <a:ext cx="666614" cy="66661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918995" y="5304277"/>
            <a:ext cx="4249005" cy="25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Multi-Factor Authentication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18995" y="5924414"/>
            <a:ext cx="4249005" cy="67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88"/>
              </a:lnSpc>
              <a:spcBef>
                <a:spcPct val="0"/>
              </a:spcBef>
            </a:pPr>
            <a:r>
              <a:rPr lang="en-US" b="true" sz="1542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Enable MFA on all accounts. Use authenticator apps over SMS. Complete regular security awareness training programs.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410096"/>
            <a:ext cx="11301259" cy="9220575"/>
          </a:xfrm>
          <a:custGeom>
            <a:avLst/>
            <a:gdLst/>
            <a:ahLst/>
            <a:cxnLst/>
            <a:rect r="r" b="b" t="t" l="l"/>
            <a:pathLst>
              <a:path h="9220575" w="11301259">
                <a:moveTo>
                  <a:pt x="0" y="0"/>
                </a:moveTo>
                <a:lnTo>
                  <a:pt x="11301258" y="0"/>
                </a:lnTo>
                <a:lnTo>
                  <a:pt x="11301258" y="9220574"/>
                </a:lnTo>
                <a:lnTo>
                  <a:pt x="0" y="92205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793" t="0" r="-31793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70383" y="3797092"/>
            <a:ext cx="18751960" cy="1578583"/>
            <a:chOff x="0" y="0"/>
            <a:chExt cx="4938788" cy="415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8788" cy="415758"/>
            </a:xfrm>
            <a:custGeom>
              <a:avLst/>
              <a:gdLst/>
              <a:ahLst/>
              <a:cxnLst/>
              <a:rect r="r" b="b" t="t" l="l"/>
              <a:pathLst>
                <a:path h="415758" w="4938788">
                  <a:moveTo>
                    <a:pt x="0" y="0"/>
                  </a:moveTo>
                  <a:lnTo>
                    <a:pt x="4938788" y="0"/>
                  </a:lnTo>
                  <a:lnTo>
                    <a:pt x="4938788" y="415758"/>
                  </a:lnTo>
                  <a:lnTo>
                    <a:pt x="0" y="41575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938788" cy="434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85123" y="3233462"/>
            <a:ext cx="3282878" cy="3820076"/>
            <a:chOff x="0" y="0"/>
            <a:chExt cx="6985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2"/>
              <a:stretch>
                <a:fillRect l="0" t="-3129" r="0" b="-312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3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57030" y="1237265"/>
            <a:ext cx="709354" cy="843071"/>
          </a:xfrm>
          <a:custGeom>
            <a:avLst/>
            <a:gdLst/>
            <a:ahLst/>
            <a:cxnLst/>
            <a:rect r="r" b="b" t="t" l="l"/>
            <a:pathLst>
              <a:path h="843071" w="709354">
                <a:moveTo>
                  <a:pt x="0" y="0"/>
                </a:moveTo>
                <a:lnTo>
                  <a:pt x="709354" y="0"/>
                </a:lnTo>
                <a:lnTo>
                  <a:pt x="709354" y="843072"/>
                </a:lnTo>
                <a:lnTo>
                  <a:pt x="0" y="843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85309" y="1439346"/>
            <a:ext cx="2807763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7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Phishing Awareness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630080" y="1189894"/>
            <a:ext cx="822214" cy="21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  <a:spcBef>
                <a:spcPct val="0"/>
              </a:spcBef>
            </a:pPr>
            <a:r>
              <a:rPr lang="en-US" b="true" sz="1440" spc="14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11/12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48708" y="3835192"/>
            <a:ext cx="6275038" cy="154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047"/>
              </a:lnSpc>
              <a:spcBef>
                <a:spcPct val="0"/>
              </a:spcBef>
            </a:pPr>
            <a:r>
              <a:rPr lang="en-US" b="true" sz="10386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KEY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48708" y="5254225"/>
            <a:ext cx="5515670" cy="154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047"/>
              </a:lnSpc>
              <a:spcBef>
                <a:spcPct val="0"/>
              </a:spcBef>
            </a:pPr>
            <a:r>
              <a:rPr lang="en-US" sz="10386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TAKEAWAYS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32912" y="3620544"/>
            <a:ext cx="4752807" cy="124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Regular and continuous security training significantly reduces phishing success rates. Organizations that implement ongoing awareness programs see measurable improvements in threat detection.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53164" y="2971586"/>
            <a:ext cx="666614" cy="66661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232912" y="3132363"/>
            <a:ext cx="4249005" cy="25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Human Factor is the Weakest Link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401024" y="5693480"/>
            <a:ext cx="1168799" cy="1360058"/>
            <a:chOff x="0" y="0"/>
            <a:chExt cx="6985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2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698548" y="2670433"/>
            <a:ext cx="1168799" cy="1360058"/>
            <a:chOff x="0" y="0"/>
            <a:chExt cx="6985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2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232912" y="6207985"/>
            <a:ext cx="4752807" cy="99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Studies show that organizations with monthly training programs experience up to 70% reduction in successful phishing attempts compared to those with annual training only.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753164" y="5559027"/>
            <a:ext cx="666614" cy="66661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232912" y="5719805"/>
            <a:ext cx="3792879" cy="25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1724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Training Reduces Risk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709003" y="-2786613"/>
            <a:ext cx="15860726" cy="15860726"/>
          </a:xfrm>
          <a:custGeom>
            <a:avLst/>
            <a:gdLst/>
            <a:ahLst/>
            <a:cxnLst/>
            <a:rect r="r" b="b" t="t" l="l"/>
            <a:pathLst>
              <a:path h="15860726" w="15860726">
                <a:moveTo>
                  <a:pt x="0" y="0"/>
                </a:moveTo>
                <a:lnTo>
                  <a:pt x="15860727" y="0"/>
                </a:lnTo>
                <a:lnTo>
                  <a:pt x="15860727" y="15860727"/>
                </a:lnTo>
                <a:lnTo>
                  <a:pt x="0" y="1586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83153" y="1285387"/>
            <a:ext cx="656985" cy="693388"/>
          </a:xfrm>
          <a:custGeom>
            <a:avLst/>
            <a:gdLst/>
            <a:ahLst/>
            <a:cxnLst/>
            <a:rect r="r" b="b" t="t" l="l"/>
            <a:pathLst>
              <a:path h="693388" w="656985">
                <a:moveTo>
                  <a:pt x="0" y="0"/>
                </a:moveTo>
                <a:lnTo>
                  <a:pt x="656985" y="0"/>
                </a:lnTo>
                <a:lnTo>
                  <a:pt x="656985" y="693388"/>
                </a:lnTo>
                <a:lnTo>
                  <a:pt x="0" y="6933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049" y="8754671"/>
            <a:ext cx="5408361" cy="493362"/>
          </a:xfrm>
          <a:custGeom>
            <a:avLst/>
            <a:gdLst/>
            <a:ahLst/>
            <a:cxnLst/>
            <a:rect r="r" b="b" t="t" l="l"/>
            <a:pathLst>
              <a:path h="493362" w="5408361">
                <a:moveTo>
                  <a:pt x="0" y="0"/>
                </a:moveTo>
                <a:lnTo>
                  <a:pt x="5408361" y="0"/>
                </a:lnTo>
                <a:lnTo>
                  <a:pt x="5408361" y="493361"/>
                </a:lnTo>
                <a:lnTo>
                  <a:pt x="0" y="4933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406903" y="3310736"/>
            <a:ext cx="6995030" cy="244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178"/>
              </a:lnSpc>
              <a:spcBef>
                <a:spcPct val="0"/>
              </a:spcBef>
            </a:pPr>
            <a:r>
              <a:rPr lang="en-US" b="true" sz="16533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THANK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253489" y="2403386"/>
            <a:ext cx="2138817" cy="213881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695384" y="3900707"/>
            <a:ext cx="548491" cy="654949"/>
          </a:xfrm>
          <a:custGeom>
            <a:avLst/>
            <a:gdLst/>
            <a:ahLst/>
            <a:cxnLst/>
            <a:rect r="r" b="b" t="t" l="l"/>
            <a:pathLst>
              <a:path h="654949" w="548491">
                <a:moveTo>
                  <a:pt x="0" y="0"/>
                </a:moveTo>
                <a:lnTo>
                  <a:pt x="548491" y="0"/>
                </a:lnTo>
                <a:lnTo>
                  <a:pt x="548491" y="654949"/>
                </a:lnTo>
                <a:lnTo>
                  <a:pt x="0" y="654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717195" y="6653876"/>
            <a:ext cx="549969" cy="558338"/>
          </a:xfrm>
          <a:custGeom>
            <a:avLst/>
            <a:gdLst/>
            <a:ahLst/>
            <a:cxnLst/>
            <a:rect r="r" b="b" t="t" l="l"/>
            <a:pathLst>
              <a:path h="558338" w="549969">
                <a:moveTo>
                  <a:pt x="0" y="0"/>
                </a:moveTo>
                <a:lnTo>
                  <a:pt x="549969" y="0"/>
                </a:lnTo>
                <a:lnTo>
                  <a:pt x="549969" y="558338"/>
                </a:lnTo>
                <a:lnTo>
                  <a:pt x="0" y="5583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600257" y="5241612"/>
            <a:ext cx="786456" cy="550241"/>
          </a:xfrm>
          <a:custGeom>
            <a:avLst/>
            <a:gdLst/>
            <a:ahLst/>
            <a:cxnLst/>
            <a:rect r="r" b="b" t="t" l="l"/>
            <a:pathLst>
              <a:path h="550241" w="786456">
                <a:moveTo>
                  <a:pt x="0" y="0"/>
                </a:moveTo>
                <a:lnTo>
                  <a:pt x="786455" y="0"/>
                </a:lnTo>
                <a:lnTo>
                  <a:pt x="786455" y="550242"/>
                </a:lnTo>
                <a:lnTo>
                  <a:pt x="0" y="5502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685309" y="1429821"/>
            <a:ext cx="2807763" cy="44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9"/>
              </a:lnSpc>
              <a:spcBef>
                <a:spcPct val="0"/>
              </a:spcBef>
            </a:pPr>
            <a:r>
              <a:rPr lang="en-US" b="true" sz="14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Phishing Awareness Simulation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630080" y="1199419"/>
            <a:ext cx="822214" cy="171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2"/>
              </a:lnSpc>
              <a:spcBef>
                <a:spcPct val="0"/>
              </a:spcBef>
            </a:pPr>
            <a:r>
              <a:rPr lang="en-US" b="true" sz="1200" spc="124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12/12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68105" y="5437365"/>
            <a:ext cx="4272627" cy="244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78"/>
              </a:lnSpc>
              <a:spcBef>
                <a:spcPct val="0"/>
              </a:spcBef>
            </a:pPr>
            <a:r>
              <a:rPr lang="en-US" sz="16533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YOU!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92066" y="4025506"/>
            <a:ext cx="2552873" cy="216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67"/>
              </a:lnSpc>
              <a:spcBef>
                <a:spcPct val="0"/>
              </a:spcBef>
            </a:pPr>
            <a:r>
              <a:rPr lang="en-US" b="true" sz="143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Divya Gunvant Khodankar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92066" y="5370690"/>
            <a:ext cx="4769600" cy="216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67"/>
              </a:lnSpc>
              <a:spcBef>
                <a:spcPct val="0"/>
              </a:spcBef>
            </a:pPr>
            <a:r>
              <a:rPr lang="en-US" b="true" sz="143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dgkhodankar@gmail.com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92066" y="6732357"/>
            <a:ext cx="4769600" cy="216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67"/>
              </a:lnSpc>
              <a:spcBef>
                <a:spcPct val="0"/>
              </a:spcBef>
            </a:pPr>
            <a:r>
              <a:rPr lang="en-US" b="true" sz="1437" u="sng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11" tooltip="https://github.com/Divu1913/Phishing-Awareness-Simulation"/>
              </a:rPr>
              <a:t>GitHub Repository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07506" y="8907721"/>
            <a:ext cx="4769600" cy="18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5"/>
              </a:lnSpc>
              <a:spcBef>
                <a:spcPct val="0"/>
              </a:spcBef>
            </a:pPr>
            <a:r>
              <a:rPr lang="en-US" b="true" sz="1237" u="sng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12" tooltip="https://divu1913.github.io/Phishing-Awareness-Simulation/"/>
              </a:rPr>
              <a:t>Cybersecurity awareness project simulation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DAHJu_8nNjk</dc:identifier>
  <dcterms:modified xsi:type="dcterms:W3CDTF">2011-08-01T06:04:30Z</dcterms:modified>
  <cp:revision>1</cp:revision>
  <dc:title>phishing_awareness_simulation_ppt</dc:title>
</cp:coreProperties>
</file>